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2" r:id="rId8"/>
    <p:sldId id="261" r:id="rId9"/>
    <p:sldId id="263" r:id="rId10"/>
    <p:sldId id="264" r:id="rId11"/>
    <p:sldId id="265" r:id="rId12"/>
    <p:sldId id="266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F90A4F-76F3-49B9-86EE-3E4681ACF893}" v="136" dt="2026-06-06T13:20:48.597"/>
    <p1510:client id="{1114D537-B060-4F75-8A1C-89755ABC460F}" v="2" dt="2026-06-06T20:33:17.761"/>
    <p1510:client id="{2963DAA0-C39F-401B-B677-FD36C389CB17}" v="53" dt="2026-06-06T21:10:43.522"/>
    <p1510:client id="{2972F818-3B2A-49D8-BAEF-E217C723AA18}" v="2" dt="2026-06-06T23:10:49.455"/>
    <p1510:client id="{756593C5-76E7-4C19-B0DF-B16AECAA7A3F}" v="15" dt="2026-06-06T23:23:55.319"/>
    <p1510:client id="{89FCF587-88E3-4000-9856-30CC276B49BF}" v="127" dt="2026-06-06T22:24:04.223"/>
    <p1510:client id="{9BCB2A75-EB23-4871-A593-68761E83A05C}" v="34" dt="2026-06-06T18:49:00.494"/>
    <p1510:client id="{B68B5129-42F8-4429-AE77-5FDAEA02CD00}" v="343" dt="2026-06-06T10:33:41.589"/>
    <p1510:client id="{C7A05FE1-40FD-418B-ADF0-4148C5BCFD92}" v="31" dt="2026-06-06T20:27:29.730"/>
    <p1510:client id="{D26A671B-D7DE-45CB-BB39-E3877C0E01B1}" v="35" dt="2026-06-06T20:50:14.604"/>
    <p1510:client id="{E0E636E4-E896-4F93-85D6-A7E903D41FDC}" v="171" dt="2026-06-06T18:44:11.359"/>
    <p1510:client id="{F1E354F3-A1C0-473A-899B-CB0A6EBA4EB4}" v="229" dt="2026-06-06T21:36:11.8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30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23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2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19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77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6/6/2026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88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6/6/2026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0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03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85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19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1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27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g4zLOp6gZME?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UJ5uov4E8P0?feature=oembed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E66B15C-ACAC-C522-D30D-72678052D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186" y="2238375"/>
            <a:ext cx="7793031" cy="46315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3906" y="1126014"/>
            <a:ext cx="9921385" cy="1387789"/>
          </a:xfrm>
        </p:spPr>
        <p:txBody>
          <a:bodyPr>
            <a:noAutofit/>
          </a:bodyPr>
          <a:lstStyle/>
          <a:p>
            <a:r>
              <a:rPr lang="en-US" sz="4400"/>
              <a:t>Immersive Mapping in Virtual Reality for Robot Teleoperation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8371" y="2895552"/>
            <a:ext cx="3835156" cy="106838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1200"/>
              <a:t>Rubin Khadka Chhetri (6558048)</a:t>
            </a:r>
            <a:endParaRPr lang="en-US"/>
          </a:p>
          <a:p>
            <a:r>
              <a:rPr lang="en-US" sz="1200"/>
              <a:t>Sarvenaz Ashoori (6878764)</a:t>
            </a:r>
          </a:p>
          <a:p>
            <a:r>
              <a:rPr lang="en-US" sz="1200"/>
              <a:t>Abdul Hayee Hafiz (6029926)</a:t>
            </a:r>
            <a:endParaRPr lang="en-US" sz="1200" b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B26A038E-FC32-9945-2E15-81BA510B99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1287" y="1718433"/>
            <a:ext cx="6845673" cy="4532071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174C78-6430-AF8C-A4DD-74F318050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7761"/>
            <a:ext cx="5100320" cy="872610"/>
          </a:xfrm>
        </p:spPr>
        <p:txBody>
          <a:bodyPr anchor="t">
            <a:normAutofit/>
          </a:bodyPr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7F207-FB35-F6B9-F9AE-CFF11E4AD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537" y="2375413"/>
            <a:ext cx="5421085" cy="3123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highlight>
                  <a:srgbClr val="FFFFFF"/>
                </a:highlight>
              </a:rPr>
              <a:t>2D displays lack depth perception</a:t>
            </a:r>
            <a:endParaRPr lang="en-US" sz="2400"/>
          </a:p>
          <a:p>
            <a:r>
              <a:rPr lang="en-US" sz="2400">
                <a:highlight>
                  <a:srgbClr val="FFFFFF"/>
                </a:highlight>
              </a:rPr>
              <a:t>Poor distance judgment </a:t>
            </a:r>
            <a:endParaRPr lang="en-US" sz="2400"/>
          </a:p>
          <a:p>
            <a:r>
              <a:rPr lang="en-US" sz="2400">
                <a:highlight>
                  <a:srgbClr val="FFFFFF"/>
                </a:highlight>
              </a:rPr>
              <a:t>High mental workload</a:t>
            </a:r>
            <a:endParaRPr lang="en-US" sz="2400"/>
          </a:p>
          <a:p>
            <a:r>
              <a:rPr lang="en-US" sz="2400">
                <a:highlight>
                  <a:srgbClr val="FFFFFF"/>
                </a:highlight>
              </a:rPr>
              <a:t>Inefficient navigation in tight spaces</a:t>
            </a:r>
            <a:endParaRPr lang="en-US" sz="2400"/>
          </a:p>
          <a:p>
            <a:endParaRPr lang="en-US" sz="2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37BC7-C717-1706-87CF-581C5C6F5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F27AD08-FFFF-4A66-B128-AE803E3A53A3}" type="datetime1">
              <a:rPr lang="en-US"/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17758-4A20-6C3A-6778-93B0BD05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39AC0-EC8D-6641-2B7E-E093AB96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810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blue wireframe of a person wearing a virtual reality headset&#10;&#10;AI-generated content may be incorrect.">
            <a:extLst>
              <a:ext uri="{FF2B5EF4-FFF2-40B4-BE49-F238E27FC236}">
                <a16:creationId xmlns:a16="http://schemas.microsoft.com/office/drawing/2014/main" id="{2B8C0734-0E3F-96E3-B666-17ACE108DB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16093" y="547564"/>
            <a:ext cx="7086854" cy="575566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36AB2F-2AAD-7449-4CC2-070BD3F4C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156" y="1157869"/>
            <a:ext cx="4969669" cy="711321"/>
          </a:xfrm>
        </p:spPr>
        <p:txBody>
          <a:bodyPr/>
          <a:lstStyle/>
          <a:p>
            <a:r>
              <a:rPr lang="en-US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BD787-3551-5A39-67CE-F0B83B1B7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3057" y="2474213"/>
            <a:ext cx="5105400" cy="321047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latin typeface="Grandview Display"/>
              </a:rPr>
              <a:t>Immersive VR Visualization</a:t>
            </a:r>
          </a:p>
          <a:p>
            <a:r>
              <a:rPr lang="en-US" sz="2400">
                <a:latin typeface="Grandview Display"/>
              </a:rPr>
              <a:t>Multi-camera System</a:t>
            </a:r>
          </a:p>
          <a:p>
            <a:r>
              <a:rPr lang="en-US" sz="2400" err="1">
                <a:latin typeface="Grandview Display"/>
              </a:rPr>
              <a:t>Minimap</a:t>
            </a:r>
            <a:r>
              <a:rPr lang="en-US" sz="2400">
                <a:latin typeface="Grandview Display"/>
              </a:rPr>
              <a:t> and distance feedback</a:t>
            </a:r>
          </a:p>
          <a:p>
            <a:r>
              <a:rPr lang="en-US" sz="2400">
                <a:latin typeface="Grandview Display"/>
              </a:rPr>
              <a:t>Cross platform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0E351-A067-7295-0B22-0BCE1102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54569-DF52-49B4-B81D-867258BA505A}" type="datetime1"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3F370-1978-1D97-F23C-69AE7F0B8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B9D06-9B17-1DE1-F103-7AD389A3A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06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A diagram of a computer system">
            <a:extLst>
              <a:ext uri="{FF2B5EF4-FFF2-40B4-BE49-F238E27FC236}">
                <a16:creationId xmlns:a16="http://schemas.microsoft.com/office/drawing/2014/main" id="{D5D40949-7ECE-D45F-E47F-231C790118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743" y="1714402"/>
            <a:ext cx="9437914" cy="4636766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65F713B2-16A6-2FEE-0B90-354D76A3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156" y="1120168"/>
            <a:ext cx="4757058" cy="599742"/>
          </a:xfrm>
        </p:spPr>
        <p:txBody>
          <a:bodyPr>
            <a:noAutofit/>
          </a:bodyPr>
          <a:lstStyle/>
          <a:p>
            <a:r>
              <a:rPr lang="en-US"/>
              <a:t>System Architecture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B8C7A-3C8D-C9B8-2C5D-4E4FB202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1326D00-CFE8-4070-98B6-5454DFA8DC2E}" type="datetime1">
              <a:rPr lang="en-US"/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5FAC7-F47F-42C8-64AB-2BBB4C075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509B2-CF49-E179-FE29-EB3BF916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988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1B10-A131-20D1-FF80-6781D1E16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5373"/>
            <a:ext cx="7167350" cy="800884"/>
          </a:xfrm>
        </p:spPr>
        <p:txBody>
          <a:bodyPr anchor="t">
            <a:normAutofit/>
          </a:bodyPr>
          <a:lstStyle/>
          <a:p>
            <a:r>
              <a:rPr lang="en-US"/>
              <a:t>Mapping &amp; Environment</a:t>
            </a:r>
          </a:p>
        </p:txBody>
      </p:sp>
      <p:pic>
        <p:nvPicPr>
          <p:cNvPr id="7" name="Content Placeholder 6" descr="A room with brick walls and a table&#10;&#10;AI-generated content may be incorrect.">
            <a:extLst>
              <a:ext uri="{FF2B5EF4-FFF2-40B4-BE49-F238E27FC236}">
                <a16:creationId xmlns:a16="http://schemas.microsoft.com/office/drawing/2014/main" id="{7E1F0D58-65E8-A266-FCC6-8E0961E0084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14400" y="1975018"/>
            <a:ext cx="5321488" cy="3867676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3B84EDF-7F66-F5B8-8731-CD6A5590AFD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65544" y="1966335"/>
            <a:ext cx="5173638" cy="38736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B1639-048C-88B9-DDB7-B96BD3AB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4EC02A4-EEC1-4B61-882B-D06F8F106260}" type="datetime1">
              <a:rPr lang="en-US"/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6C294-7EDC-63BE-EC52-065E90F8F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DF532-A0B4-4614-1680-1FB91647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FD2F4-5A9F-7776-317F-64B2D17FD37E}"/>
              </a:ext>
            </a:extLst>
          </p:cNvPr>
          <p:cNvSpPr txBox="1"/>
          <p:nvPr/>
        </p:nvSpPr>
        <p:spPr>
          <a:xfrm>
            <a:off x="2790114" y="5854287"/>
            <a:ext cx="2055743" cy="3741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Point Cloud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81C2B-5EA3-BE2D-D344-42E5A74144DF}"/>
              </a:ext>
            </a:extLst>
          </p:cNvPr>
          <p:cNvSpPr txBox="1"/>
          <p:nvPr/>
        </p:nvSpPr>
        <p:spPr>
          <a:xfrm>
            <a:off x="8080571" y="5854287"/>
            <a:ext cx="2055743" cy="3741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Static Mesh</a:t>
            </a:r>
          </a:p>
        </p:txBody>
      </p:sp>
    </p:spTree>
    <p:extLst>
      <p:ext uri="{BB962C8B-B14F-4D97-AF65-F5344CB8AC3E}">
        <p14:creationId xmlns:p14="http://schemas.microsoft.com/office/powerpoint/2010/main" val="407394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edia 7" title="rtab turtlebot demo">
            <a:hlinkClick r:id="" action="ppaction://noaction"/>
            <a:extLst>
              <a:ext uri="{FF2B5EF4-FFF2-40B4-BE49-F238E27FC236}">
                <a16:creationId xmlns:a16="http://schemas.microsoft.com/office/drawing/2014/main" id="{B36C6783-0791-CB5D-ACC2-DF8BF7369E64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5080" y="4128"/>
            <a:ext cx="12197080" cy="685704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8B0B9-687B-C22D-AD1B-F54EAC553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D3CCC-C46E-40A4-BEB4-ED9D25CFCC01}" type="datetime1"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CDD52-A301-024D-5556-9D492773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CDC2A-1799-4000-3D80-8E0DD8599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718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D728-82F6-216B-69DD-2D55F11F7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99" y="1227500"/>
            <a:ext cx="10442760" cy="939753"/>
          </a:xfrm>
        </p:spPr>
        <p:txBody>
          <a:bodyPr/>
          <a:lstStyle/>
          <a:p>
            <a:r>
              <a:rPr lang="en-US"/>
              <a:t>Robot Movement &amp; Controller Mapping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1A443-B1B8-1D4C-93D1-910530257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9799" y="2162670"/>
            <a:ext cx="5084947" cy="695372"/>
          </a:xfrm>
        </p:spPr>
        <p:txBody>
          <a:bodyPr/>
          <a:lstStyle/>
          <a:p>
            <a:r>
              <a:rPr lang="en-US"/>
              <a:t>How Robot Moves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4F40D-DD8F-B248-EC66-D98B4116C2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Unity does not move robot directly</a:t>
            </a:r>
          </a:p>
          <a:p>
            <a:r>
              <a:rPr lang="en-US"/>
              <a:t>Input -&gt; /</a:t>
            </a:r>
            <a:r>
              <a:rPr lang="en-US" err="1"/>
              <a:t>cmd_vel</a:t>
            </a:r>
            <a:r>
              <a:rPr lang="en-US"/>
              <a:t> -&gt; Gazebo -&gt; /</a:t>
            </a:r>
            <a:r>
              <a:rPr lang="en-US" err="1"/>
              <a:t>odom</a:t>
            </a:r>
            <a:r>
              <a:rPr lang="en-US"/>
              <a:t> -&gt; Unity -&gt; VR</a:t>
            </a:r>
          </a:p>
          <a:p>
            <a:r>
              <a:rPr lang="en-US"/>
              <a:t>Gazebo is single source of truth for physics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4A8560-6E9F-957D-8619-B6E10DA66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62670"/>
            <a:ext cx="5183188" cy="695372"/>
          </a:xfrm>
        </p:spPr>
        <p:txBody>
          <a:bodyPr/>
          <a:lstStyle/>
          <a:p>
            <a:r>
              <a:rPr lang="en-US"/>
              <a:t>Controller Input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F284DB-7319-BBD0-68DD-810A99C8DF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Primary: Meta </a:t>
            </a:r>
            <a:r>
              <a:rPr lang="en-US" err="1"/>
              <a:t>Ques</a:t>
            </a:r>
            <a:r>
              <a:rPr lang="en-US"/>
              <a:t>t </a:t>
            </a:r>
            <a:r>
              <a:rPr lang="en-US" err="1"/>
              <a:t>thumbstick</a:t>
            </a:r>
          </a:p>
          <a:p>
            <a:r>
              <a:rPr lang="en-US"/>
              <a:t>Challenge: </a:t>
            </a:r>
            <a:r>
              <a:rPr lang="en-US" err="1"/>
              <a:t>Simulato</a:t>
            </a:r>
            <a:r>
              <a:rPr lang="en-US"/>
              <a:t>r thumbstick emulation unrealiable</a:t>
            </a:r>
          </a:p>
          <a:p>
            <a:r>
              <a:rPr lang="en-US"/>
              <a:t>Solution: Keyboard Fallback to validate pipeline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18AF0-C070-8AD9-7996-34077656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1831E-CD15-4B36-BAAE-61E97EC10F9A}" type="datetime1"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97D380-002E-59A9-6569-742A88237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CAD6C-9EB7-202E-18FC-6B4EE896A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53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surface with a brick wall">
            <a:extLst>
              <a:ext uri="{FF2B5EF4-FFF2-40B4-BE49-F238E27FC236}">
                <a16:creationId xmlns:a16="http://schemas.microsoft.com/office/drawing/2014/main" id="{A1290CDA-A9ED-CF39-ED6F-BDDF56A9B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085" y="1890713"/>
            <a:ext cx="2906486" cy="1955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E6A285-ADC8-154E-1073-786D756F7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171" y="1066801"/>
            <a:ext cx="5617029" cy="828342"/>
          </a:xfrm>
        </p:spPr>
        <p:txBody>
          <a:bodyPr anchor="t">
            <a:normAutofit/>
          </a:bodyPr>
          <a:lstStyle/>
          <a:p>
            <a:r>
              <a:rPr lang="en-US"/>
              <a:t>VR Interface Design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60360-AB85-27D0-5817-0C597EFD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020B13B-9168-4293-A71F-BDB6EEB59DD3}" type="datetime1">
              <a:rPr lang="en-US"/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FD771-20F7-9D80-E606-F50FC75A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861EA-B616-7D6F-C5F5-1B7D4B4E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15" name="Picture 14" descr="A toy car with wheels&#10;&#10;AI-generated content may be incorrect.">
            <a:extLst>
              <a:ext uri="{FF2B5EF4-FFF2-40B4-BE49-F238E27FC236}">
                <a16:creationId xmlns:a16="http://schemas.microsoft.com/office/drawing/2014/main" id="{463B3CE2-3C9A-4E81-7C94-3B41C1DCA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849" y="4148138"/>
            <a:ext cx="2896961" cy="22302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F23F28-227C-1D11-78D0-DF63169E1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578" y="2869067"/>
            <a:ext cx="2891518" cy="2468336"/>
          </a:xfrm>
          <a:prstGeom prst="rect">
            <a:avLst/>
          </a:prstGeom>
        </p:spPr>
      </p:pic>
      <p:pic>
        <p:nvPicPr>
          <p:cNvPr id="19" name="Picture 18" descr="A white carpet on the ground&#10;&#10;AI-generated content may be incorrect.">
            <a:extLst>
              <a:ext uri="{FF2B5EF4-FFF2-40B4-BE49-F238E27FC236}">
                <a16:creationId xmlns:a16="http://schemas.microsoft.com/office/drawing/2014/main" id="{218AF5A7-68C1-B67E-9DDE-AEB2BBD8C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534" y="2874509"/>
            <a:ext cx="3275240" cy="254181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C5F46D9-C3B0-F44E-C3F3-14446EC419F8}"/>
              </a:ext>
            </a:extLst>
          </p:cNvPr>
          <p:cNvSpPr txBox="1"/>
          <p:nvPr/>
        </p:nvSpPr>
        <p:spPr>
          <a:xfrm>
            <a:off x="5287267" y="3779137"/>
            <a:ext cx="16172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Main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EAEF77-C0FF-4C6A-831A-2F20CD0476FE}"/>
              </a:ext>
            </a:extLst>
          </p:cNvPr>
          <p:cNvSpPr txBox="1"/>
          <p:nvPr/>
        </p:nvSpPr>
        <p:spPr>
          <a:xfrm>
            <a:off x="5156638" y="6359051"/>
            <a:ext cx="16172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/>
              <a:t>Following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A8BB32-F72B-24A1-10F3-ACAD4E20C1AA}"/>
              </a:ext>
            </a:extLst>
          </p:cNvPr>
          <p:cNvSpPr txBox="1"/>
          <p:nvPr/>
        </p:nvSpPr>
        <p:spPr>
          <a:xfrm>
            <a:off x="8476781" y="5422879"/>
            <a:ext cx="16172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Right Wheel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C8B107-E61A-DBFC-B124-9DFA4A969957}"/>
              </a:ext>
            </a:extLst>
          </p:cNvPr>
          <p:cNvSpPr txBox="1"/>
          <p:nvPr/>
        </p:nvSpPr>
        <p:spPr>
          <a:xfrm>
            <a:off x="1662323" y="5324907"/>
            <a:ext cx="16172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Left Wheel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C1E52-07E0-E81B-8C9C-CD6DDBA7A06D}"/>
              </a:ext>
            </a:extLst>
          </p:cNvPr>
          <p:cNvSpPr txBox="1"/>
          <p:nvPr/>
        </p:nvSpPr>
        <p:spPr>
          <a:xfrm>
            <a:off x="1023282" y="1714989"/>
            <a:ext cx="286982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Multi Camera System</a:t>
            </a:r>
          </a:p>
        </p:txBody>
      </p:sp>
    </p:spTree>
    <p:extLst>
      <p:ext uri="{BB962C8B-B14F-4D97-AF65-F5344CB8AC3E}">
        <p14:creationId xmlns:p14="http://schemas.microsoft.com/office/powerpoint/2010/main" val="74835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FB11-2021-5B0A-BB5B-42D7E4EC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156" y="1071845"/>
            <a:ext cx="5170715" cy="730370"/>
          </a:xfrm>
        </p:spPr>
        <p:txBody>
          <a:bodyPr anchor="t">
            <a:normAutofit/>
          </a:bodyPr>
          <a:lstStyle/>
          <a:p>
            <a:r>
              <a:rPr lang="en-US"/>
              <a:t>VR Interface Design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302A9-C355-73A4-2CE5-01BDAE6B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772A343-476C-4C3E-BC9C-AE56767588AD}" type="datetime1">
              <a:rPr lang="en-US"/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62A57-08A7-1F47-AE68-7DE2A18CA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E1F00-1F89-36B5-4100-A7A215AC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D02D90-97F6-97DF-3B07-C7517D159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69" y="5507945"/>
            <a:ext cx="1610995" cy="4286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330639-3EF5-5B52-471E-83F64A14B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230" y="5502502"/>
            <a:ext cx="1612900" cy="438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5188242-29E0-D231-7854-79860ADA2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2662" y="5507219"/>
            <a:ext cx="1460500" cy="4375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D3C3FB-B551-8099-C407-CBFA3020A0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105" y="5501051"/>
            <a:ext cx="1612900" cy="436880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A86320-1992-0174-E285-2E8237F196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5159" y="1806076"/>
            <a:ext cx="3771899" cy="3075214"/>
          </a:xfrm>
          <a:prstGeom prst="rect">
            <a:avLst/>
          </a:prstGeom>
        </p:spPr>
      </p:pic>
      <p:pic>
        <p:nvPicPr>
          <p:cNvPr id="17" name="Picture 16" descr="A drawing of a room&#10;&#10;AI-generated content may be incorrect.">
            <a:extLst>
              <a:ext uri="{FF2B5EF4-FFF2-40B4-BE49-F238E27FC236}">
                <a16:creationId xmlns:a16="http://schemas.microsoft.com/office/drawing/2014/main" id="{33D6E3DE-B00E-B7B4-68A7-6A11B64740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0906" y="1810793"/>
            <a:ext cx="3522888" cy="307793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1A6FDD5-B7D2-3162-ACB1-B034DB76217D}"/>
              </a:ext>
            </a:extLst>
          </p:cNvPr>
          <p:cNvSpPr txBox="1"/>
          <p:nvPr/>
        </p:nvSpPr>
        <p:spPr>
          <a:xfrm>
            <a:off x="2881726" y="4891763"/>
            <a:ext cx="20044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err="1"/>
              <a:t>Minimap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169E23-43E7-040D-A3CE-27971F332509}"/>
              </a:ext>
            </a:extLst>
          </p:cNvPr>
          <p:cNvSpPr txBox="1"/>
          <p:nvPr/>
        </p:nvSpPr>
        <p:spPr>
          <a:xfrm>
            <a:off x="6762846" y="4891763"/>
            <a:ext cx="25734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Distance Feedback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50951B-5CFC-2CB6-7F71-276486F589FB}"/>
              </a:ext>
            </a:extLst>
          </p:cNvPr>
          <p:cNvSpPr txBox="1"/>
          <p:nvPr/>
        </p:nvSpPr>
        <p:spPr>
          <a:xfrm>
            <a:off x="4080606" y="5978883"/>
            <a:ext cx="403644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Communication Health State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9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D4CC95-6E52-D106-647D-0D80CD1A5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151" y="546694"/>
            <a:ext cx="5678510" cy="1836229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EB22FF-A233-E5A3-F8CA-FE8D41595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4897168" cy="734223"/>
          </a:xfrm>
        </p:spPr>
        <p:txBody>
          <a:bodyPr anchor="t">
            <a:normAutofit/>
          </a:bodyPr>
          <a:lstStyle/>
          <a:p>
            <a:r>
              <a:rPr lang="en-US" sz="4000"/>
              <a:t>Results &amp; Validation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3E466-3025-F2F0-ED46-FBDA40D2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AD2283A-C56E-412C-8027-EBE6743D30DE}" type="datetime1">
              <a:rPr lang="en-US"/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CFB7-4CFD-6A1D-29F0-89671ABE1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E69CB-35A5-D78D-20E5-9D9E409CC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88D0C8-1A10-D657-4FAD-0ACAFFEAD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563" y="2503398"/>
            <a:ext cx="5678511" cy="1839258"/>
          </a:xfrm>
          <a:prstGeom prst="rect">
            <a:avLst/>
          </a:prstGeom>
        </p:spPr>
      </p:pic>
      <p:pic>
        <p:nvPicPr>
          <p:cNvPr id="13" name="Picture 1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8B0E00D-F955-BAAE-72B7-BB9A77744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563" y="4538832"/>
            <a:ext cx="5678510" cy="200254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3C3DA2-F59C-DF57-C47D-759A731E3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263651"/>
              </p:ext>
            </p:extLst>
          </p:nvPr>
        </p:nvGraphicFramePr>
        <p:xfrm>
          <a:off x="290919" y="2384022"/>
          <a:ext cx="5804367" cy="264718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34789">
                  <a:extLst>
                    <a:ext uri="{9D8B030D-6E8A-4147-A177-3AD203B41FA5}">
                      <a16:colId xmlns:a16="http://schemas.microsoft.com/office/drawing/2014/main" val="616548081"/>
                    </a:ext>
                  </a:extLst>
                </a:gridCol>
                <a:gridCol w="1934789">
                  <a:extLst>
                    <a:ext uri="{9D8B030D-6E8A-4147-A177-3AD203B41FA5}">
                      <a16:colId xmlns:a16="http://schemas.microsoft.com/office/drawing/2014/main" val="3322261937"/>
                    </a:ext>
                  </a:extLst>
                </a:gridCol>
                <a:gridCol w="1934789">
                  <a:extLst>
                    <a:ext uri="{9D8B030D-6E8A-4147-A177-3AD203B41FA5}">
                      <a16:colId xmlns:a16="http://schemas.microsoft.com/office/drawing/2014/main" val="2345300727"/>
                    </a:ext>
                  </a:extLst>
                </a:gridCol>
              </a:tblGrid>
              <a:tr h="56469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Measured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Expected 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2908358"/>
                  </a:ext>
                </a:extLst>
              </a:tr>
              <a:tr h="66406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r>
                        <a:rPr lang="en-US" dirty="0" err="1"/>
                        <a:t>cmd_vel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71-72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~72 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378329"/>
                  </a:ext>
                </a:extLst>
              </a:tr>
              <a:tr h="62784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  <a:r>
                        <a:rPr lang="en-US" dirty="0" err="1"/>
                        <a:t>odom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47-48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50 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715663"/>
                  </a:ext>
                </a:extLst>
              </a:tr>
              <a:tr h="79057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/scan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9-10 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 Hz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3288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440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303BAB0-EE7C-58B4-CBE2-0EAC35DB9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37064"/>
            <a:ext cx="10363200" cy="1187570"/>
          </a:xfrm>
        </p:spPr>
        <p:txBody>
          <a:bodyPr anchor="t">
            <a:normAutofit/>
          </a:bodyPr>
          <a:lstStyle/>
          <a:p>
            <a:r>
              <a:rPr lang="en-US"/>
              <a:t>Result &amp; Validation</a:t>
            </a:r>
          </a:p>
        </p:txBody>
      </p:sp>
      <p:pic>
        <p:nvPicPr>
          <p:cNvPr id="2" name="Online Media 1" title="VR Usecase">
            <a:hlinkClick r:id="" action="ppaction://noaction"/>
            <a:extLst>
              <a:ext uri="{FF2B5EF4-FFF2-40B4-BE49-F238E27FC236}">
                <a16:creationId xmlns:a16="http://schemas.microsoft.com/office/drawing/2014/main" id="{44595224-E41D-3FAD-140A-96C7A30CB96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35" y="7438"/>
            <a:ext cx="12189594" cy="6846798"/>
          </a:xfrm>
          <a:prstGeom prst="rect">
            <a:avLst/>
          </a:prstGeom>
          <a:ln>
            <a:solidFill>
              <a:srgbClr val="4472C4"/>
            </a:solidFill>
          </a:ln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05A04-BE67-638E-EE2A-EC9B29C09B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D4C8DD-38D2-46C7-89A7-1FB2161D28C3}" type="datetime1">
              <a:rPr lang="en-US"/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988A8-F5EE-FFFB-21C6-F888160F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57BE0-41B9-AC52-69D6-7A9BD831D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657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43FD4-9A5A-2D25-9A0D-1F7FB9DE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171" y="1164771"/>
            <a:ext cx="10442760" cy="939753"/>
          </a:xfrm>
        </p:spPr>
        <p:txBody>
          <a:bodyPr anchor="t">
            <a:normAutofit/>
          </a:bodyPr>
          <a:lstStyle/>
          <a:p>
            <a:r>
              <a:rPr lang="en-US"/>
              <a:t>Challenges &amp; Future Direction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D0BA1EA-A198-81AE-EB16-26F33EC50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104524"/>
            <a:ext cx="5084947" cy="695372"/>
          </a:xfrm>
        </p:spPr>
        <p:txBody>
          <a:bodyPr/>
          <a:lstStyle/>
          <a:p>
            <a:r>
              <a:rPr lang="en-US"/>
              <a:t>Challenges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48B0BA5-CE46-2446-A2CA-97A465996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WiFi</a:t>
            </a:r>
            <a:r>
              <a:rPr lang="en-US" dirty="0"/>
              <a:t> unreliable -&gt; Ethernet + static IP</a:t>
            </a:r>
          </a:p>
          <a:p>
            <a:r>
              <a:rPr lang="en-US"/>
              <a:t>DirectX11 crashes -&gt; Switched to Vulkan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7CC5D4F-7C0B-6FB9-18C7-A53C45DD7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04524"/>
            <a:ext cx="5183188" cy="695372"/>
          </a:xfrm>
        </p:spPr>
        <p:txBody>
          <a:bodyPr/>
          <a:lstStyle/>
          <a:p>
            <a:r>
              <a:rPr lang="en-US"/>
              <a:t>Future Direction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665C082B-D68D-8CB9-2B87-37E9D70A99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Industrial </a:t>
            </a:r>
            <a:r>
              <a:rPr lang="en-US" dirty="0" err="1"/>
              <a:t>WiFi</a:t>
            </a:r>
            <a:r>
              <a:rPr lang="en-US" dirty="0"/>
              <a:t>/ 5G</a:t>
            </a:r>
          </a:p>
          <a:p>
            <a:r>
              <a:rPr lang="en-US"/>
              <a:t>Physical Hardware Testing</a:t>
            </a:r>
          </a:p>
          <a:p>
            <a:r>
              <a:rPr lang="en-US"/>
              <a:t>Live SLAM for unmapped environments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5437C-431B-C8D4-1B42-DB7F2B65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D06A73F-0B1C-4555-9560-522812E7765E}" type="datetime1">
              <a:rPr lang="en-US"/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516FB-A27A-D0AF-6B6C-09FE00A84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C99BA-AA59-07B0-9382-FC835F029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BAA8CB-2500-B28E-DAE0-B720230B76C6}"/>
              </a:ext>
            </a:extLst>
          </p:cNvPr>
          <p:cNvSpPr txBox="1"/>
          <p:nvPr/>
        </p:nvSpPr>
        <p:spPr>
          <a:xfrm>
            <a:off x="1189091" y="5042205"/>
            <a:ext cx="92524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🔗 All code and assets: github.com/</a:t>
            </a:r>
            <a:r>
              <a:rPr lang="en-US" dirty="0" err="1">
                <a:ea typeface="+mn-lt"/>
                <a:cs typeface="+mn-lt"/>
              </a:rPr>
              <a:t>rubin-khadka</a:t>
            </a:r>
            <a:r>
              <a:rPr lang="en-US" dirty="0">
                <a:ea typeface="+mn-lt"/>
                <a:cs typeface="+mn-lt"/>
              </a:rPr>
              <a:t>/</a:t>
            </a:r>
            <a:r>
              <a:rPr lang="en-US" dirty="0" err="1">
                <a:ea typeface="+mn-lt"/>
                <a:cs typeface="+mn-lt"/>
              </a:rPr>
              <a:t>VR_Controlled_Robot_Teleop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418360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26CEE-E433-BE05-F1B4-1F311E83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628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F09D340-8A4A-410B-AA95-6CC39E128D09}" type="datetime1">
              <a:pPr>
                <a:spcAft>
                  <a:spcPts val="600"/>
                </a:spcAft>
              </a:pPr>
              <a:t>6/6/2026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55332-85A9-9C96-7EC8-2A4DF42EF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7622" y="6356350"/>
            <a:ext cx="4040373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9B671-A90D-B351-D886-019B3BAD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dirty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8" name="Picture 7" descr="A close-up of a pen&#10;&#10;AI-generated content may be incorrect.">
            <a:extLst>
              <a:ext uri="{FF2B5EF4-FFF2-40B4-BE49-F238E27FC236}">
                <a16:creationId xmlns:a16="http://schemas.microsoft.com/office/drawing/2014/main" id="{0FDA23DE-F579-6611-42E1-08C702AF8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688" y="1001885"/>
            <a:ext cx="10038861" cy="485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840349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DashVTI</vt:lpstr>
      <vt:lpstr>Immersive Mapping in Virtual Reality for Robot Teleoperation</vt:lpstr>
      <vt:lpstr>Problem Statement</vt:lpstr>
      <vt:lpstr>Proposed Solution</vt:lpstr>
      <vt:lpstr>System Architecture</vt:lpstr>
      <vt:lpstr>Mapping &amp; Environment</vt:lpstr>
      <vt:lpstr>PowerPoint Presentation</vt:lpstr>
      <vt:lpstr>Robot Movement &amp; Controller Mapping</vt:lpstr>
      <vt:lpstr>VR Interface Design</vt:lpstr>
      <vt:lpstr>VR Interface Design</vt:lpstr>
      <vt:lpstr>Results &amp; Validation</vt:lpstr>
      <vt:lpstr>Result &amp; Validation</vt:lpstr>
      <vt:lpstr>Challenges &amp; Future Direction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104</cp:revision>
  <dcterms:created xsi:type="dcterms:W3CDTF">2026-05-16T19:57:37Z</dcterms:created>
  <dcterms:modified xsi:type="dcterms:W3CDTF">2026-06-06T23:25:37Z</dcterms:modified>
</cp:coreProperties>
</file>